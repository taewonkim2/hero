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1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09097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0"/>
            <a:ext cx="3810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4724400"/>
            <a:ext cx="1143000" cy="38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733495" y="1575643"/>
            <a:ext cx="36768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GENERATION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733495" y="1952774"/>
            <a:ext cx="3676861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90"/>
              </a:lnSpc>
              <a:buNone/>
            </a:pPr>
            <a:r>
              <a:rPr lang="en-US" sz="3900" dirty="0">
                <a:latin typeface="Arial" pitchFamily="34" charset="0"/>
                <a:ea typeface="Arial" pitchFamily="34" charset="-122"/>
                <a:cs typeface="Arial" pitchFamily="34" charset="-120"/>
              </a:rPr>
              <a:t>UI/UX 컨설팅의</a:t>
            </a:r>
            <a:endParaRPr lang="en-US" sz="3900" dirty="0"/>
          </a:p>
          <a:p>
            <a:pPr marL="0" indent="0" algn="ctr">
              <a:lnSpc>
                <a:spcPts val="4290"/>
              </a:lnSpc>
              <a:buNone/>
            </a:pPr>
            <a:r>
              <a:rPr lang="en-US" sz="3900" dirty="0">
                <a:latin typeface="Arial" pitchFamily="34" charset="0"/>
                <a:ea typeface="Arial" pitchFamily="34" charset="-122"/>
                <a:cs typeface="Arial" pitchFamily="34" charset="-120"/>
              </a:rPr>
              <a:t>새로운 패러다임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2733495" y="3327946"/>
            <a:ext cx="367686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225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PPT에서 Living Prototype으로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007531" y="4564410"/>
            <a:ext cx="17554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바이브코딩 기반 혁신 프로젝트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191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65529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UI/UX 컨설팅의 한계</a:t>
            </a:r>
            <a:endParaRPr lang="en-US" sz="2700" dirty="0"/>
          </a:p>
        </p:txBody>
      </p:sp>
      <p:pic>
        <p:nvPicPr>
          <p:cNvPr id="4" name="Image 0" descr="/tmp/rasterized-gradient-8b21ec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922115"/>
            <a:ext cx="3771900" cy="23544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188815"/>
            <a:ext cx="326440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85800" y="3194596"/>
            <a:ext cx="32644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1200"/>
              </a:spcBef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실제 앱과의 괴리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3575596"/>
            <a:ext cx="326440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정적인 이미지로는 사용자 경험을</a:t>
            </a:r>
            <a:endParaRPr lang="en-US" sz="975" dirty="0"/>
          </a:p>
          <a:p>
            <a:pPr marL="0" indent="0" algn="l">
              <a:lnSpc>
                <a:spcPts val="15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검증할 수 없습니다.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457700" y="1956346"/>
            <a:ext cx="4305300" cy="685800"/>
          </a:xfrm>
          <a:prstGeom prst="roundRect">
            <a:avLst>
              <a:gd name="adj" fmla="val 1666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610100" y="210874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143500" y="2113508"/>
            <a:ext cx="196526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동작 확인 불가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43500" y="2338239"/>
            <a:ext cx="19652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동선과 인터랙션을 검증할 수 없음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457700" y="2756446"/>
            <a:ext cx="4305300" cy="685800"/>
          </a:xfrm>
          <a:prstGeom prst="roundRect">
            <a:avLst>
              <a:gd name="adj" fmla="val 1666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610100" y="290884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143500" y="2913608"/>
            <a:ext cx="18881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편의성 검증 불가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143500" y="3138339"/>
            <a:ext cx="18881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대비 개선 여부를 확인할 방법 없음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457700" y="3556546"/>
            <a:ext cx="4305300" cy="685800"/>
          </a:xfrm>
          <a:prstGeom prst="roundRect">
            <a:avLst>
              <a:gd name="adj" fmla="val 1666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610100" y="370894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143500" y="3713708"/>
            <a:ext cx="17515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수정·실험의 어려움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143500" y="3938439"/>
            <a:ext cx="17515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 반영에 많은 시간과 비용 소요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191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65529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잘못된 기획 문화</a:t>
            </a:r>
            <a:endParaRPr lang="en-US" sz="2700" dirty="0"/>
          </a:p>
        </p:txBody>
      </p:sp>
      <p:pic>
        <p:nvPicPr>
          <p:cNvPr id="4" name="Image 0" descr="/tmp/rasterized-gradient-2ba9f5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15814"/>
            <a:ext cx="4023271" cy="10150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1025" y="1715839"/>
            <a:ext cx="36956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프로젝트의 부속품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581025" y="1965275"/>
            <a:ext cx="3695685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기획이 개발 일정에 종속되어 새로운 것을 검토할 시간 없이 문서 작성에만 치중</a:t>
            </a:r>
            <a:endParaRPr lang="en-US" sz="900" dirty="0"/>
          </a:p>
        </p:txBody>
      </p:sp>
      <p:pic>
        <p:nvPicPr>
          <p:cNvPr id="7" name="Image 1" descr="/tmp/rasterized-gradient-0bed52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683222"/>
            <a:ext cx="4023271" cy="8322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1025" y="2883247"/>
            <a:ext cx="36956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개발자를 위한 문서</a:t>
            </a:r>
            <a:endParaRPr lang="en-US" sz="975" dirty="0"/>
          </a:p>
        </p:txBody>
      </p:sp>
      <p:sp>
        <p:nvSpPr>
          <p:cNvPr id="9" name="Text 5"/>
          <p:cNvSpPr/>
          <p:nvPr/>
        </p:nvSpPr>
        <p:spPr>
          <a:xfrm>
            <a:off x="581025" y="3132683"/>
            <a:ext cx="369568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편의성보다 개발자의 이해도가 더 중요한 산출물 형태</a:t>
            </a:r>
            <a:endParaRPr lang="en-US" sz="900" dirty="0"/>
          </a:p>
        </p:txBody>
      </p:sp>
      <p:pic>
        <p:nvPicPr>
          <p:cNvPr id="10" name="Image 2" descr="/tmp/rasterized-gradient-d6e03f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667869"/>
            <a:ext cx="4023271" cy="10150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1025" y="3867894"/>
            <a:ext cx="36956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창의성의 상실</a:t>
            </a:r>
            <a:endParaRPr lang="en-US" sz="975" dirty="0"/>
          </a:p>
        </p:txBody>
      </p:sp>
      <p:sp>
        <p:nvSpPr>
          <p:cNvPr id="12" name="Text 7"/>
          <p:cNvSpPr/>
          <p:nvPr/>
        </p:nvSpPr>
        <p:spPr>
          <a:xfrm>
            <a:off x="581025" y="4117330"/>
            <a:ext cx="3695685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 아이디어보다 개발 구현 방식을 아는 것에 뿌듯함을 느끼는 기획자들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632871" y="1964085"/>
            <a:ext cx="4023271" cy="2270671"/>
          </a:xfrm>
          <a:prstGeom prst="roundRect">
            <a:avLst>
              <a:gd name="adj" fmla="val 6712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4899571" y="2230785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4899571" y="2992785"/>
            <a:ext cx="3559668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결국, 컨설팅을 해도</a:t>
            </a:r>
            <a:endParaRPr lang="en-US" sz="1650" dirty="0"/>
          </a:p>
          <a:p>
            <a:pPr marL="0" indent="0" algn="l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뻔한 결과의 반복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4899571" y="3731865"/>
            <a:ext cx="355966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혁신은 없고, 매번 비슷한 산출물만 양산되는 악순환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d9948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90729" y="1581299"/>
            <a:ext cx="27625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299270" y="1920329"/>
            <a:ext cx="2545461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2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</a:t>
            </a:r>
            <a:endParaRPr lang="en-US" sz="4200" dirty="0"/>
          </a:p>
          <a:p>
            <a:pPr marL="0" indent="0" algn="ctr">
              <a:lnSpc>
                <a:spcPts val="462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190729" y="3322290"/>
            <a:ext cx="27625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동작하는 HTML 기반 산출물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905295" y="4014043"/>
            <a:ext cx="57473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905295" y="4425404"/>
            <a:ext cx="5747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동작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3855393" y="4014043"/>
            <a:ext cx="9525" cy="381000"/>
          </a:xfrm>
          <a:prstGeom prst="rect">
            <a:avLst/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240433" y="4014043"/>
            <a:ext cx="559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240433" y="4425404"/>
            <a:ext cx="5594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수정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175349" y="4014043"/>
            <a:ext cx="9525" cy="381000"/>
          </a:xfrm>
          <a:prstGeom prst="rect">
            <a:avLst/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559202" y="4014043"/>
            <a:ext cx="6805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5559202" y="4425404"/>
            <a:ext cx="6805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명확한 검증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191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65529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기반 산출물의 장점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2070646"/>
            <a:ext cx="3513534" cy="2057400"/>
          </a:xfrm>
          <a:prstGeom prst="roundRect">
            <a:avLst>
              <a:gd name="adj" fmla="val 740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299246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66800" y="2350740"/>
            <a:ext cx="73853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PPT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2545" y="2843064"/>
            <a:ext cx="9975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정적인 화면 이미지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2545" y="3138339"/>
            <a:ext cx="11140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설명 텍스트 덕지덕지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2545" y="3433614"/>
            <a:ext cx="11465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수정에 많은 시간 소요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545" y="3728889"/>
            <a:ext cx="11465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사용감 확인 불가</a:t>
            </a:r>
            <a:endParaRPr lang="en-US" sz="900" dirty="0"/>
          </a:p>
        </p:txBody>
      </p:sp>
      <p:pic>
        <p:nvPicPr>
          <p:cNvPr id="11" name="Image 0" descr="/tmp/rasterized-gradient-09f3ca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334" y="2051596"/>
            <a:ext cx="4182666" cy="20955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27984" y="2299246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285184" y="2350740"/>
            <a:ext cx="134726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Prototype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050929" y="2843064"/>
            <a:ext cx="12631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동작하는 화면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확인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50929" y="3138339"/>
            <a:ext cx="17100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클릭, 스크롤, 화면전환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직접 체험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50929" y="3433614"/>
            <a:ext cx="13797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즉각적인 수정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 실험 가능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50929" y="3728889"/>
            <a:ext cx="14120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동선 최적화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검증 가능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191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655290"/>
            <a:ext cx="48383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바이브코딩이 가능하게 한다</a:t>
            </a:r>
            <a:endParaRPr lang="en-US" sz="2700" dirty="0"/>
          </a:p>
        </p:txBody>
      </p:sp>
      <p:pic>
        <p:nvPicPr>
          <p:cNvPr id="4" name="Image 0" descr="/tmp/rasterized-gradient-af343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35584"/>
            <a:ext cx="4191000" cy="12571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564184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자연어로 코딩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9600" y="1891754"/>
            <a:ext cx="380847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버튼을 오른쪽으로 옮기고, 색상을 파란색으로 바꿔줘"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609600" y="2166045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AI가 즉시 코드로 변환</a:t>
            </a:r>
            <a:endParaRPr lang="en-US" sz="900" dirty="0"/>
          </a:p>
        </p:txBody>
      </p:sp>
      <p:pic>
        <p:nvPicPr>
          <p:cNvPr id="8" name="Image 1" descr="/tmp/rasterized-gradient-0a28e4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745135"/>
            <a:ext cx="4191000" cy="9828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9600" y="2973735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기획자도 가능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09600" y="3301305"/>
            <a:ext cx="380847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코딩 지식 없이도 실제 동작하는 프로토타입 제작 가능</a:t>
            </a:r>
            <a:endParaRPr lang="en-US" sz="975" dirty="0"/>
          </a:p>
        </p:txBody>
      </p:sp>
      <p:pic>
        <p:nvPicPr>
          <p:cNvPr id="11" name="Image 2" descr="/tmp/rasterized-gradient-23961e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880396"/>
            <a:ext cx="4191000" cy="9828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9600" y="4108996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빠른 반복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09600" y="4436566"/>
            <a:ext cx="380847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→ 확인 → 피드백의 사이클을 몇 분 내로 완료</a:t>
            </a:r>
            <a:endParaRPr lang="en-US" sz="975" dirty="0"/>
          </a:p>
        </p:txBody>
      </p:sp>
      <p:sp>
        <p:nvSpPr>
          <p:cNvPr id="14" name="Text 9"/>
          <p:cNvSpPr/>
          <p:nvPr/>
        </p:nvSpPr>
        <p:spPr>
          <a:xfrm>
            <a:off x="4800600" y="1549896"/>
            <a:ext cx="3855690" cy="3098899"/>
          </a:xfrm>
          <a:prstGeom prst="roundRect">
            <a:avLst>
              <a:gd name="adj" fmla="val 4918"/>
            </a:avLst>
          </a:prstGeom>
          <a:solidFill>
            <a:srgbClr val="0A2A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5067300" y="1816596"/>
            <a:ext cx="338873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3600" dirty="0"/>
          </a:p>
        </p:txBody>
      </p:sp>
      <p:sp>
        <p:nvSpPr>
          <p:cNvPr id="16" name="Text 11"/>
          <p:cNvSpPr/>
          <p:nvPr/>
        </p:nvSpPr>
        <p:spPr>
          <a:xfrm>
            <a:off x="5067300" y="2494657"/>
            <a:ext cx="33887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속도 향상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067300" y="2719388"/>
            <a:ext cx="33887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작성 대비</a:t>
            </a:r>
            <a:endParaRPr lang="en-US" sz="825" dirty="0"/>
          </a:p>
        </p:txBody>
      </p:sp>
      <p:sp>
        <p:nvSpPr>
          <p:cNvPr id="18" name="Text 13"/>
          <p:cNvSpPr/>
          <p:nvPr/>
        </p:nvSpPr>
        <p:spPr>
          <a:xfrm>
            <a:off x="5067300" y="3094583"/>
            <a:ext cx="3322290" cy="9525"/>
          </a:xfrm>
          <a:prstGeom prst="rect">
            <a:avLst/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5067300" y="3332708"/>
            <a:ext cx="338873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5067300" y="4010769"/>
            <a:ext cx="33887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가능 횟수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067300" y="4235500"/>
            <a:ext cx="33887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피드백 반영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191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65529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프로세스 혁신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340495"/>
            <a:ext cx="8382000" cy="1190327"/>
          </a:xfrm>
          <a:prstGeom prst="roundRect">
            <a:avLst>
              <a:gd name="adj" fmla="val 9602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530995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AS-IS: 기존 방식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71500" y="1856631"/>
            <a:ext cx="685800" cy="483691"/>
          </a:xfrm>
          <a:prstGeom prst="roundRect">
            <a:avLst>
              <a:gd name="adj" fmla="val 15754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850" y="1951881"/>
            <a:ext cx="42748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562100" y="1856631"/>
            <a:ext cx="581025" cy="483691"/>
          </a:xfrm>
          <a:prstGeom prst="roundRect">
            <a:avLst>
              <a:gd name="adj" fmla="val 15754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95450" y="1951881"/>
            <a:ext cx="32061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설계서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447925" y="1856631"/>
            <a:ext cx="476250" cy="483691"/>
          </a:xfrm>
          <a:prstGeom prst="roundRect">
            <a:avLst>
              <a:gd name="adj" fmla="val 16000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81275" y="1951881"/>
            <a:ext cx="21374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228975" y="1856631"/>
            <a:ext cx="546050" cy="483691"/>
          </a:xfrm>
          <a:prstGeom prst="roundRect">
            <a:avLst>
              <a:gd name="adj" fmla="val 15754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62325" y="1951881"/>
            <a:ext cx="28493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(정적)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079825" y="1856631"/>
            <a:ext cx="476250" cy="483691"/>
          </a:xfrm>
          <a:prstGeom prst="roundRect">
            <a:avLst>
              <a:gd name="adj" fmla="val 16000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213175" y="1951881"/>
            <a:ext cx="21374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전달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860875" y="1856631"/>
            <a:ext cx="816620" cy="483691"/>
          </a:xfrm>
          <a:prstGeom prst="roundRect">
            <a:avLst>
              <a:gd name="adj" fmla="val 15754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94225" y="1951881"/>
            <a:ext cx="56091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후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문제발견😱</a:t>
            </a:r>
            <a:endParaRPr lang="en-US" sz="825" dirty="0"/>
          </a:p>
        </p:txBody>
      </p:sp>
      <p:pic>
        <p:nvPicPr>
          <p:cNvPr id="18" name="Image 0" descr="/tmp/rasterized-gradient-8a616c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683222"/>
            <a:ext cx="8382000" cy="122842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0550" y="2892772"/>
            <a:ext cx="81221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TO-BE: 새로운 방식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590550" y="3218408"/>
            <a:ext cx="685800" cy="483691"/>
          </a:xfrm>
          <a:prstGeom prst="roundRect">
            <a:avLst>
              <a:gd name="adj" fmla="val 15754"/>
            </a:avLst>
          </a:prstGeom>
          <a:solidFill>
            <a:srgbClr val="1A3A3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23900" y="3313658"/>
            <a:ext cx="42748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1581150" y="3218408"/>
            <a:ext cx="790575" cy="483691"/>
          </a:xfrm>
          <a:prstGeom prst="roundRect">
            <a:avLst>
              <a:gd name="adj" fmla="val 15754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714500" y="3313658"/>
            <a:ext cx="53435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2676525" y="3218408"/>
            <a:ext cx="714970" cy="483691"/>
          </a:xfrm>
          <a:prstGeom prst="roundRect">
            <a:avLst>
              <a:gd name="adj" fmla="val 15754"/>
            </a:avLst>
          </a:prstGeom>
          <a:solidFill>
            <a:srgbClr val="1A3A3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809875" y="3313658"/>
            <a:ext cx="45723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동작 확인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696295" y="3218408"/>
            <a:ext cx="476250" cy="483691"/>
          </a:xfrm>
          <a:prstGeom prst="roundRect">
            <a:avLst>
              <a:gd name="adj" fmla="val 16000"/>
            </a:avLst>
          </a:prstGeom>
          <a:solidFill>
            <a:srgbClr val="1A3A3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829645" y="3313658"/>
            <a:ext cx="21374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477345" y="3218408"/>
            <a:ext cx="581025" cy="483691"/>
          </a:xfrm>
          <a:prstGeom prst="roundRect">
            <a:avLst>
              <a:gd name="adj" fmla="val 15754"/>
            </a:avLst>
          </a:prstGeom>
          <a:solidFill>
            <a:srgbClr val="1A3A3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610695" y="3313658"/>
            <a:ext cx="32061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최적화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5363170" y="3218408"/>
            <a:ext cx="802779" cy="483691"/>
          </a:xfrm>
          <a:prstGeom prst="roundRect">
            <a:avLst>
              <a:gd name="adj" fmla="val 15754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496520" y="3313658"/>
            <a:ext cx="54680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</a:t>
            </a:r>
            <a:endParaRPr lang="en-US" sz="825" dirty="0"/>
          </a:p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착수✓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381000" y="4140250"/>
            <a:ext cx="2692450" cy="718096"/>
          </a:xfrm>
          <a:prstGeom prst="roundRect">
            <a:avLst>
              <a:gd name="adj" fmla="val 1061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90093" y="4273600"/>
            <a:ext cx="24742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검증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490093" y="4578400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전 UX 완성도 확보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3225850" y="4140250"/>
            <a:ext cx="2692450" cy="718096"/>
          </a:xfrm>
          <a:prstGeom prst="roundRect">
            <a:avLst>
              <a:gd name="adj" fmla="val 1061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3334942" y="4273600"/>
            <a:ext cx="24742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반복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3334942" y="4578400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수정 후 최적안 도출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6070699" y="4140250"/>
            <a:ext cx="2692450" cy="718096"/>
          </a:xfrm>
          <a:prstGeom prst="roundRect">
            <a:avLst>
              <a:gd name="adj" fmla="val 10611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179792" y="4273600"/>
            <a:ext cx="24742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제거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6179792" y="4578400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후 변경 최소화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191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65529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2700" dirty="0"/>
          </a:p>
        </p:txBody>
      </p:sp>
      <p:pic>
        <p:nvPicPr>
          <p:cNvPr id="4" name="Image 0" descr="/tmp/rasterized-gradient-c917c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855738"/>
            <a:ext cx="1981200" cy="24873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2122438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2751088"/>
            <a:ext cx="155448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경험 품질 향상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9600" y="3105299"/>
            <a:ext cx="155448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동작을 보면서 최적의 UX를 설계하여 고객 만족도 극대화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9600" y="3848844"/>
            <a:ext cx="1524000" cy="0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9600" y="3967907"/>
            <a:ext cx="1554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사용성 검증 가능</a:t>
            </a:r>
            <a:endParaRPr lang="en-US" sz="825" dirty="0"/>
          </a:p>
        </p:txBody>
      </p:sp>
      <p:pic>
        <p:nvPicPr>
          <p:cNvPr id="10" name="Image 1" descr="/tmp/rasterized-gradient-4b72c3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947118"/>
            <a:ext cx="1981200" cy="23046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0" y="2213818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743200" y="2842468"/>
            <a:ext cx="155448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기간 단축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743200" y="3196679"/>
            <a:ext cx="155448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바이브코딩으로 작업 속도 향상, 개발 후 재작업 감소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743200" y="3757464"/>
            <a:ext cx="1524000" cy="0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43200" y="3876526"/>
            <a:ext cx="1554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30~50% 기간 단축</a:t>
            </a:r>
            <a:endParaRPr lang="en-US" sz="825" dirty="0"/>
          </a:p>
        </p:txBody>
      </p:sp>
      <p:pic>
        <p:nvPicPr>
          <p:cNvPr id="16" name="Image 2" descr="/tmp/rasterized-gradient-9bfc49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1947118"/>
            <a:ext cx="1981200" cy="23046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76800" y="2213818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4876800" y="2842468"/>
            <a:ext cx="155448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 아이디어 창출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876800" y="3196679"/>
            <a:ext cx="155448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작성 부담 감소로 창의적 아이디어에 집중 가능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876800" y="3757464"/>
            <a:ext cx="1524000" cy="0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76800" y="3876526"/>
            <a:ext cx="1554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새로운 가치 발굴</a:t>
            </a:r>
            <a:endParaRPr lang="en-US" sz="825" dirty="0"/>
          </a:p>
        </p:txBody>
      </p:sp>
      <p:pic>
        <p:nvPicPr>
          <p:cNvPr id="22" name="Image 3" descr="/tmp/rasterized-gradient-e35d95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800" y="1947118"/>
            <a:ext cx="1981200" cy="23046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10400" y="2213818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7010400" y="2842468"/>
            <a:ext cx="155448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완성도 향상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010400" y="3196679"/>
            <a:ext cx="155448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검증된 설계로 개발 착수, 변경/오류 최소화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7010400" y="3757464"/>
            <a:ext cx="1524000" cy="0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010400" y="3876526"/>
            <a:ext cx="1554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개발 리스크 제거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2b8ea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87048" y="1615529"/>
            <a:ext cx="29697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3087048" y="1992660"/>
            <a:ext cx="2969755" cy="1040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095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이상 PPT로</a:t>
            </a:r>
            <a:endParaRPr lang="en-US" sz="3150" dirty="0"/>
          </a:p>
          <a:p>
            <a:pPr marL="0" indent="0" algn="ctr">
              <a:lnSpc>
                <a:spcPts val="4095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상상하지 마세요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3087048" y="3261271"/>
            <a:ext cx="29697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보고, 만지고, 확인하세요</a:t>
            </a:r>
            <a:endParaRPr lang="en-US" sz="1500" dirty="0"/>
          </a:p>
        </p:txBody>
      </p:sp>
      <p:pic>
        <p:nvPicPr>
          <p:cNvPr id="7" name="Image 2" descr="/tmp/rasterized-gradient-7535ac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367" y="3478709"/>
            <a:ext cx="3795266" cy="9027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112474" y="3716834"/>
            <a:ext cx="291905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Prototype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</a:t>
            </a:r>
            <a:endParaRPr lang="en-US" sz="1200" dirty="0"/>
          </a:p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UI/UX 컨설팅의 새로운 기준을 제시합니다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</Words>
  <Application>Microsoft Office PowerPoint</Application>
  <PresentationFormat>화면 슬라이드 쇼(16:9)</PresentationFormat>
  <Paragraphs>128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UI/UX 컨설팅의 새로운 패러다임</dc:title>
  <dc:subject>PptxGenJS Presentation</dc:subject>
  <dc:creator>Living Prototype</dc:creator>
  <cp:lastModifiedBy>taewon kim</cp:lastModifiedBy>
  <cp:revision>2</cp:revision>
  <dcterms:created xsi:type="dcterms:W3CDTF">2025-12-08T08:34:39Z</dcterms:created>
  <dcterms:modified xsi:type="dcterms:W3CDTF">2025-12-08T08:41:08Z</dcterms:modified>
</cp:coreProperties>
</file>